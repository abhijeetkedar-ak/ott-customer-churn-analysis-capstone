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3" r:id="rId10"/>
    <p:sldId id="272" r:id="rId11"/>
    <p:sldId id="264" r:id="rId12"/>
    <p:sldId id="265" r:id="rId13"/>
    <p:sldId id="266" r:id="rId14"/>
    <p:sldId id="267" r:id="rId15"/>
    <p:sldId id="268" r:id="rId16"/>
    <p:sldId id="269" r:id="rId17"/>
    <p:sldId id="270" r:id="rId18"/>
    <p:sldId id="271"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1"/>
            <a:ext cx="12188952" cy="629265"/>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rgbClr val="FF0000"/>
              </a:solidFill>
              <a:highlight>
                <a:srgbClr val="00FFFF"/>
              </a:highlight>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rPr dirty="0"/>
              <a:t>OTT Customer Churn Analysis Capstone</a:t>
            </a:r>
          </a:p>
        </p:txBody>
      </p:sp>
      <p:sp>
        <p:nvSpPr>
          <p:cNvPr id="4" name="TextBox 3"/>
          <p:cNvSpPr txBox="1"/>
          <p:nvPr/>
        </p:nvSpPr>
        <p:spPr>
          <a:xfrm>
            <a:off x="457200" y="731520"/>
            <a:ext cx="4954305" cy="1631216"/>
          </a:xfrm>
          <a:prstGeom prst="rect">
            <a:avLst/>
          </a:prstGeom>
          <a:noFill/>
        </p:spPr>
        <p:txBody>
          <a:bodyPr wrap="none">
            <a:spAutoFit/>
          </a:bodyPr>
          <a:lstStyle/>
          <a:p>
            <a:pPr>
              <a:defRPr sz="2000"/>
            </a:pPr>
            <a:r>
              <a:rPr dirty="0"/>
              <a:t>End-to-End Business Analyst Capstone Project</a:t>
            </a:r>
            <a:endParaRPr lang="en-IN" dirty="0"/>
          </a:p>
          <a:p>
            <a:pPr>
              <a:defRPr sz="2000"/>
            </a:pPr>
            <a:endParaRPr dirty="0"/>
          </a:p>
          <a:p>
            <a:pPr>
              <a:defRPr sz="2000"/>
            </a:pPr>
            <a:r>
              <a:rPr dirty="0"/>
              <a:t>Prepared By: Abhijeet Kedar</a:t>
            </a:r>
            <a:endParaRPr lang="en-IN" dirty="0"/>
          </a:p>
          <a:p>
            <a:pPr>
              <a:defRPr sz="2000"/>
            </a:pPr>
            <a:endParaRPr dirty="0"/>
          </a:p>
          <a:p>
            <a:pPr algn="just">
              <a:defRPr sz="2000"/>
            </a:pPr>
            <a:r>
              <a:rPr dirty="0"/>
              <a:t>Excel </a:t>
            </a:r>
            <a:r>
              <a:rPr lang="en-IN" dirty="0"/>
              <a:t>• </a:t>
            </a:r>
            <a:r>
              <a:rPr dirty="0"/>
              <a:t>SQL • Power BI • DAX • Power Query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1"/>
            <a:ext cx="12188952" cy="589935"/>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t>Executive Summary</a:t>
            </a:r>
          </a:p>
        </p:txBody>
      </p:sp>
      <p:sp>
        <p:nvSpPr>
          <p:cNvPr id="4" name="TextBox 3"/>
          <p:cNvSpPr txBox="1"/>
          <p:nvPr/>
        </p:nvSpPr>
        <p:spPr>
          <a:xfrm>
            <a:off x="457200" y="804314"/>
            <a:ext cx="4694170" cy="1323439"/>
          </a:xfrm>
          <a:prstGeom prst="rect">
            <a:avLst/>
          </a:prstGeom>
          <a:noFill/>
        </p:spPr>
        <p:txBody>
          <a:bodyPr wrap="none">
            <a:spAutoFit/>
          </a:bodyPr>
          <a:lstStyle/>
          <a:p>
            <a:pPr marL="342900" indent="-342900" algn="just">
              <a:buFont typeface="Arial" panose="020B0604020202020204" pitchFamily="34" charset="0"/>
              <a:buChar char="•"/>
              <a:defRPr sz="2000"/>
            </a:pPr>
            <a:r>
              <a:rPr dirty="0"/>
              <a:t>Analyze customer churn</a:t>
            </a:r>
          </a:p>
          <a:p>
            <a:pPr marL="342900" indent="-342900" algn="just">
              <a:buFont typeface="Arial" panose="020B0604020202020204" pitchFamily="34" charset="0"/>
              <a:buChar char="•"/>
              <a:defRPr sz="2000"/>
            </a:pPr>
            <a:r>
              <a:rPr dirty="0"/>
              <a:t>Measure business KPIs</a:t>
            </a:r>
          </a:p>
          <a:p>
            <a:pPr marL="342900" indent="-342900" algn="just">
              <a:buFont typeface="Arial" panose="020B0604020202020204" pitchFamily="34" charset="0"/>
              <a:buChar char="•"/>
              <a:defRPr sz="2000"/>
            </a:pPr>
            <a:r>
              <a:rPr dirty="0"/>
              <a:t>Develop interactive Power BI dashboard</a:t>
            </a:r>
          </a:p>
          <a:p>
            <a:pPr marL="342900" indent="-342900" algn="just">
              <a:buFont typeface="Arial" panose="020B0604020202020204" pitchFamily="34" charset="0"/>
              <a:buChar char="•"/>
              <a:defRPr sz="2000"/>
            </a:pPr>
            <a:r>
              <a:rPr dirty="0"/>
              <a:t>Provide strategic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1"/>
            <a:ext cx="12188952" cy="570271"/>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rPr dirty="0"/>
              <a:t>Business Problem</a:t>
            </a:r>
          </a:p>
        </p:txBody>
      </p:sp>
      <p:sp>
        <p:nvSpPr>
          <p:cNvPr id="4" name="TextBox 3"/>
          <p:cNvSpPr txBox="1"/>
          <p:nvPr/>
        </p:nvSpPr>
        <p:spPr>
          <a:xfrm>
            <a:off x="456961" y="731520"/>
            <a:ext cx="5669757" cy="1015663"/>
          </a:xfrm>
          <a:prstGeom prst="rect">
            <a:avLst/>
          </a:prstGeom>
          <a:noFill/>
        </p:spPr>
        <p:txBody>
          <a:bodyPr wrap="none">
            <a:spAutoFit/>
          </a:bodyPr>
          <a:lstStyle/>
          <a:p>
            <a:pPr marL="342900" indent="-342900" algn="just">
              <a:buFont typeface="Arial" panose="020B0604020202020204" pitchFamily="34" charset="0"/>
              <a:buChar char="•"/>
              <a:defRPr sz="2000"/>
            </a:pPr>
            <a:r>
              <a:rPr dirty="0"/>
              <a:t>High churn impacts recurring revenue.</a:t>
            </a:r>
          </a:p>
          <a:p>
            <a:pPr marL="342900" indent="-342900" algn="just">
              <a:buFont typeface="Arial" panose="020B0604020202020204" pitchFamily="34" charset="0"/>
              <a:buChar char="•"/>
              <a:defRPr sz="2000"/>
            </a:pPr>
            <a:r>
              <a:rPr dirty="0"/>
              <a:t>Business needs actionable retention insights.</a:t>
            </a:r>
          </a:p>
          <a:p>
            <a:pPr marL="342900" indent="-342900" algn="just">
              <a:buFont typeface="Arial" panose="020B0604020202020204" pitchFamily="34" charset="0"/>
              <a:buChar char="•"/>
              <a:defRPr sz="2000"/>
            </a:pPr>
            <a:r>
              <a:rPr dirty="0"/>
              <a:t>Identify churn drivers and upgrade opportunities.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19432"/>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t>Business Objectives</a:t>
            </a:r>
          </a:p>
        </p:txBody>
      </p:sp>
      <p:sp>
        <p:nvSpPr>
          <p:cNvPr id="4" name="TextBox 3"/>
          <p:cNvSpPr txBox="1"/>
          <p:nvPr/>
        </p:nvSpPr>
        <p:spPr>
          <a:xfrm>
            <a:off x="457200" y="773807"/>
            <a:ext cx="3642344" cy="1323439"/>
          </a:xfrm>
          <a:prstGeom prst="rect">
            <a:avLst/>
          </a:prstGeom>
          <a:noFill/>
        </p:spPr>
        <p:txBody>
          <a:bodyPr wrap="none">
            <a:spAutoFit/>
          </a:bodyPr>
          <a:lstStyle/>
          <a:p>
            <a:pPr marL="342900" indent="-342900" algn="just">
              <a:buFont typeface="Arial" panose="020B0604020202020204" pitchFamily="34" charset="0"/>
              <a:buChar char="•"/>
              <a:defRPr sz="2000"/>
            </a:pPr>
            <a:r>
              <a:rPr dirty="0"/>
              <a:t>Reduce churn</a:t>
            </a:r>
          </a:p>
          <a:p>
            <a:pPr marL="342900" indent="-342900" algn="just">
              <a:buFont typeface="Arial" panose="020B0604020202020204" pitchFamily="34" charset="0"/>
              <a:buChar char="•"/>
              <a:defRPr sz="2000"/>
            </a:pPr>
            <a:r>
              <a:rPr dirty="0"/>
              <a:t>Improve customer retention</a:t>
            </a:r>
          </a:p>
          <a:p>
            <a:pPr marL="342900" indent="-342900" algn="just">
              <a:buFont typeface="Arial" panose="020B0604020202020204" pitchFamily="34" charset="0"/>
              <a:buChar char="•"/>
              <a:defRPr sz="2000"/>
            </a:pPr>
            <a:r>
              <a:rPr dirty="0"/>
              <a:t>Increase upgrade acceptance</a:t>
            </a:r>
          </a:p>
          <a:p>
            <a:pPr marL="342900" indent="-342900" algn="just">
              <a:buFont typeface="Arial" panose="020B0604020202020204" pitchFamily="34" charset="0"/>
              <a:buChar char="•"/>
              <a:defRPr sz="2000"/>
            </a:pPr>
            <a:r>
              <a:rPr dirty="0"/>
              <a:t>Support data-driven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1"/>
            <a:ext cx="12188952" cy="632461"/>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rPr dirty="0"/>
              <a:t>Business Analysis Lifecycle</a:t>
            </a:r>
          </a:p>
        </p:txBody>
      </p:sp>
      <p:sp>
        <p:nvSpPr>
          <p:cNvPr id="4" name="TextBox 3"/>
          <p:cNvSpPr txBox="1"/>
          <p:nvPr/>
        </p:nvSpPr>
        <p:spPr>
          <a:xfrm>
            <a:off x="457200" y="874455"/>
            <a:ext cx="2480807" cy="2554545"/>
          </a:xfrm>
          <a:prstGeom prst="rect">
            <a:avLst/>
          </a:prstGeom>
          <a:noFill/>
        </p:spPr>
        <p:txBody>
          <a:bodyPr wrap="none">
            <a:spAutoFit/>
          </a:bodyPr>
          <a:lstStyle/>
          <a:p>
            <a:pPr marL="342900" indent="-342900" algn="just">
              <a:buFont typeface="Arial" panose="020B0604020202020204" pitchFamily="34" charset="0"/>
              <a:buChar char="•"/>
              <a:defRPr sz="2000"/>
            </a:pPr>
            <a:r>
              <a:rPr dirty="0"/>
              <a:t>Business Problem</a:t>
            </a:r>
          </a:p>
          <a:p>
            <a:pPr marL="342900" indent="-342900" algn="just">
              <a:buFont typeface="Arial" panose="020B0604020202020204" pitchFamily="34" charset="0"/>
              <a:buChar char="•"/>
              <a:defRPr sz="2000"/>
            </a:pPr>
            <a:r>
              <a:rPr dirty="0"/>
              <a:t>BRD</a:t>
            </a:r>
          </a:p>
          <a:p>
            <a:pPr marL="342900" indent="-342900" algn="just">
              <a:buFont typeface="Arial" panose="020B0604020202020204" pitchFamily="34" charset="0"/>
              <a:buChar char="•"/>
              <a:defRPr sz="2000"/>
            </a:pPr>
            <a:r>
              <a:rPr dirty="0"/>
              <a:t>FRD</a:t>
            </a:r>
          </a:p>
          <a:p>
            <a:pPr marL="342900" indent="-342900" algn="just">
              <a:buFont typeface="Arial" panose="020B0604020202020204" pitchFamily="34" charset="0"/>
              <a:buChar char="•"/>
              <a:defRPr sz="2000"/>
            </a:pPr>
            <a:r>
              <a:rPr dirty="0"/>
              <a:t>Excel</a:t>
            </a:r>
          </a:p>
          <a:p>
            <a:pPr marL="342900" indent="-342900" algn="just">
              <a:buFont typeface="Arial" panose="020B0604020202020204" pitchFamily="34" charset="0"/>
              <a:buChar char="•"/>
              <a:defRPr sz="2000"/>
            </a:pPr>
            <a:r>
              <a:rPr dirty="0"/>
              <a:t>SQL</a:t>
            </a:r>
          </a:p>
          <a:p>
            <a:pPr marL="342900" indent="-342900" algn="just">
              <a:buFont typeface="Arial" panose="020B0604020202020204" pitchFamily="34" charset="0"/>
              <a:buChar char="•"/>
              <a:defRPr sz="2000"/>
            </a:pPr>
            <a:r>
              <a:rPr dirty="0"/>
              <a:t>Power BI</a:t>
            </a:r>
          </a:p>
          <a:p>
            <a:pPr marL="342900" indent="-342900" algn="just">
              <a:buFont typeface="Arial" panose="020B0604020202020204" pitchFamily="34" charset="0"/>
              <a:buChar char="•"/>
              <a:defRPr sz="2000"/>
            </a:pPr>
            <a:r>
              <a:rPr dirty="0"/>
              <a:t>Insights</a:t>
            </a:r>
          </a:p>
          <a:p>
            <a:pPr marL="342900" indent="-342900" algn="just">
              <a:buFont typeface="Arial" panose="020B0604020202020204" pitchFamily="34" charset="0"/>
              <a:buChar char="•"/>
              <a:defRPr sz="2000"/>
            </a:pPr>
            <a:r>
              <a:rPr dirty="0"/>
              <a:t>Recommendations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096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t>Tools &amp; Technologies</a:t>
            </a:r>
          </a:p>
        </p:txBody>
      </p:sp>
      <p:sp>
        <p:nvSpPr>
          <p:cNvPr id="4" name="TextBox 3"/>
          <p:cNvSpPr txBox="1"/>
          <p:nvPr/>
        </p:nvSpPr>
        <p:spPr>
          <a:xfrm>
            <a:off x="457200" y="762000"/>
            <a:ext cx="2170018" cy="1938992"/>
          </a:xfrm>
          <a:prstGeom prst="rect">
            <a:avLst/>
          </a:prstGeom>
          <a:noFill/>
        </p:spPr>
        <p:txBody>
          <a:bodyPr wrap="none">
            <a:spAutoFit/>
          </a:bodyPr>
          <a:lstStyle/>
          <a:p>
            <a:pPr marL="342900" indent="-342900" algn="just">
              <a:buFont typeface="Arial" panose="020B0604020202020204" pitchFamily="34" charset="0"/>
              <a:buChar char="•"/>
              <a:defRPr sz="2000"/>
            </a:pPr>
            <a:r>
              <a:rPr dirty="0"/>
              <a:t>Microsoft Excel</a:t>
            </a:r>
          </a:p>
          <a:p>
            <a:pPr marL="342900" indent="-342900" algn="just">
              <a:buFont typeface="Arial" panose="020B0604020202020204" pitchFamily="34" charset="0"/>
              <a:buChar char="•"/>
              <a:defRPr sz="2000"/>
            </a:pPr>
            <a:r>
              <a:rPr dirty="0"/>
              <a:t>SQL Server</a:t>
            </a:r>
          </a:p>
          <a:p>
            <a:pPr marL="342900" indent="-342900" algn="just">
              <a:buFont typeface="Arial" panose="020B0604020202020204" pitchFamily="34" charset="0"/>
              <a:buChar char="•"/>
              <a:defRPr sz="2000"/>
            </a:pPr>
            <a:r>
              <a:rPr dirty="0"/>
              <a:t>Power BI</a:t>
            </a:r>
          </a:p>
          <a:p>
            <a:pPr marL="342900" indent="-342900" algn="just">
              <a:buFont typeface="Arial" panose="020B0604020202020204" pitchFamily="34" charset="0"/>
              <a:buChar char="•"/>
              <a:defRPr sz="2000"/>
            </a:pPr>
            <a:r>
              <a:rPr dirty="0"/>
              <a:t>DAX</a:t>
            </a:r>
          </a:p>
          <a:p>
            <a:pPr marL="342900" indent="-342900" algn="just">
              <a:buFont typeface="Arial" panose="020B0604020202020204" pitchFamily="34" charset="0"/>
              <a:buChar char="•"/>
              <a:defRPr sz="2000"/>
            </a:pPr>
            <a:r>
              <a:rPr dirty="0"/>
              <a:t>Power Query</a:t>
            </a:r>
          </a:p>
          <a:p>
            <a:pPr marL="342900" indent="-342900" algn="just">
              <a:buFont typeface="Arial" panose="020B0604020202020204" pitchFamily="34" charset="0"/>
              <a:buChar char="•"/>
              <a:defRPr sz="2000"/>
            </a:pPr>
            <a:r>
              <a:rPr dirty="0"/>
              <a:t>Microsoft Word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77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rPr dirty="0"/>
              <a:t>Key Project KPIs</a:t>
            </a:r>
          </a:p>
        </p:txBody>
      </p:sp>
      <p:sp>
        <p:nvSpPr>
          <p:cNvPr id="4" name="TextBox 3"/>
          <p:cNvSpPr txBox="1"/>
          <p:nvPr/>
        </p:nvSpPr>
        <p:spPr>
          <a:xfrm>
            <a:off x="494096" y="849507"/>
            <a:ext cx="5600316" cy="2862322"/>
          </a:xfrm>
          <a:prstGeom prst="rect">
            <a:avLst/>
          </a:prstGeom>
          <a:noFill/>
        </p:spPr>
        <p:txBody>
          <a:bodyPr wrap="none">
            <a:spAutoFit/>
          </a:bodyPr>
          <a:lstStyle/>
          <a:p>
            <a:pPr marL="342900" indent="-342900" algn="just">
              <a:buFont typeface="Arial" panose="020B0604020202020204" pitchFamily="34" charset="0"/>
              <a:buChar char="•"/>
              <a:defRPr sz="2000"/>
            </a:pPr>
            <a:r>
              <a:rPr dirty="0"/>
              <a:t>Churn Rate: 49.03%</a:t>
            </a:r>
          </a:p>
          <a:p>
            <a:pPr marL="342900" indent="-342900" algn="just">
              <a:buFont typeface="Arial" panose="020B0604020202020204" pitchFamily="34" charset="0"/>
              <a:buChar char="•"/>
              <a:defRPr sz="2000"/>
            </a:pPr>
            <a:r>
              <a:rPr dirty="0"/>
              <a:t>Upgrade Acceptance Rate: 51.93%</a:t>
            </a:r>
          </a:p>
          <a:p>
            <a:pPr marL="342900" indent="-342900" algn="just">
              <a:buFont typeface="Arial" panose="020B0604020202020204" pitchFamily="34" charset="0"/>
              <a:buChar char="•"/>
              <a:defRPr sz="2000"/>
            </a:pPr>
            <a:r>
              <a:rPr dirty="0"/>
              <a:t>Total Revenue: 101M</a:t>
            </a:r>
          </a:p>
          <a:p>
            <a:pPr marL="342900" indent="-342900" algn="just">
              <a:buFont typeface="Arial" panose="020B0604020202020204" pitchFamily="34" charset="0"/>
              <a:buChar char="•"/>
              <a:defRPr sz="2000"/>
            </a:pPr>
            <a:r>
              <a:rPr dirty="0"/>
              <a:t>Premium Revenue: 35M</a:t>
            </a:r>
          </a:p>
          <a:p>
            <a:pPr marL="342900" indent="-342900" algn="just">
              <a:buFont typeface="Arial" panose="020B0604020202020204" pitchFamily="34" charset="0"/>
              <a:buChar char="•"/>
              <a:defRPr sz="2000"/>
            </a:pPr>
            <a:r>
              <a:rPr dirty="0"/>
              <a:t>Standard Revenue: 34M</a:t>
            </a:r>
          </a:p>
          <a:p>
            <a:pPr marL="342900" indent="-342900" algn="just">
              <a:buFont typeface="Arial" panose="020B0604020202020204" pitchFamily="34" charset="0"/>
              <a:buChar char="•"/>
              <a:defRPr sz="2000"/>
            </a:pPr>
            <a:r>
              <a:rPr dirty="0"/>
              <a:t>Basic Revenue: 32M</a:t>
            </a:r>
          </a:p>
          <a:p>
            <a:pPr marL="342900" indent="-342900" algn="just">
              <a:buFont typeface="Arial" panose="020B0604020202020204" pitchFamily="34" charset="0"/>
              <a:buChar char="•"/>
              <a:defRPr sz="2000"/>
            </a:pPr>
            <a:r>
              <a:rPr dirty="0"/>
              <a:t>Highest Revenue City: Hyderabad</a:t>
            </a:r>
          </a:p>
          <a:p>
            <a:pPr marL="342900" indent="-342900" algn="just">
              <a:buFont typeface="Arial" panose="020B0604020202020204" pitchFamily="34" charset="0"/>
              <a:buChar char="•"/>
              <a:defRPr sz="2000"/>
            </a:pPr>
            <a:r>
              <a:rPr dirty="0"/>
              <a:t>Average Rating: 3.77</a:t>
            </a:r>
          </a:p>
          <a:p>
            <a:pPr marL="342900" indent="-342900" algn="just">
              <a:buFont typeface="Arial" panose="020B0604020202020204" pitchFamily="34" charset="0"/>
              <a:buChar char="•"/>
              <a:defRPr sz="2000"/>
            </a:pPr>
            <a:r>
              <a:rPr dirty="0"/>
              <a:t>163 churned customers had support interactions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1"/>
            <a:ext cx="12188952" cy="589935"/>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270208" cy="523220"/>
          </a:xfrm>
          <a:prstGeom prst="rect">
            <a:avLst/>
          </a:prstGeom>
          <a:noFill/>
        </p:spPr>
        <p:txBody>
          <a:bodyPr wrap="none">
            <a:spAutoFit/>
          </a:bodyPr>
          <a:lstStyle/>
          <a:p>
            <a:pPr>
              <a:defRPr sz="2800" b="1">
                <a:solidFill>
                  <a:srgbClr val="FFFFFF"/>
                </a:solidFill>
              </a:defRPr>
            </a:pPr>
            <a:r>
              <a:rPr lang="en-IN" sz="2800" b="1" dirty="0"/>
              <a:t>Excel Analysis &amp; Dashboard</a:t>
            </a:r>
            <a:endParaRPr dirty="0"/>
          </a:p>
        </p:txBody>
      </p:sp>
      <p:pic>
        <p:nvPicPr>
          <p:cNvPr id="13" name="Picture 12">
            <a:extLst>
              <a:ext uri="{FF2B5EF4-FFF2-40B4-BE49-F238E27FC236}">
                <a16:creationId xmlns:a16="http://schemas.microsoft.com/office/drawing/2014/main" id="{FEDB2099-1199-6C99-B071-20828D8C291C}"/>
              </a:ext>
            </a:extLst>
          </p:cNvPr>
          <p:cNvPicPr>
            <a:picLocks noChangeAspect="1"/>
          </p:cNvPicPr>
          <p:nvPr/>
        </p:nvPicPr>
        <p:blipFill>
          <a:blip r:embed="rId2"/>
          <a:stretch>
            <a:fillRect/>
          </a:stretch>
        </p:blipFill>
        <p:spPr>
          <a:xfrm>
            <a:off x="457202" y="710387"/>
            <a:ext cx="8086352" cy="5198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36E4B18-84CC-A4A3-7E35-62441B617AF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717093-6EE9-6314-A050-84C2D5AB04FC}"/>
              </a:ext>
            </a:extLst>
          </p:cNvPr>
          <p:cNvSpPr/>
          <p:nvPr/>
        </p:nvSpPr>
        <p:spPr>
          <a:xfrm>
            <a:off x="0" y="-1"/>
            <a:ext cx="12188952" cy="589935"/>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361387B-6E82-3EB0-6EBD-56847BB9F7C1}"/>
              </a:ext>
            </a:extLst>
          </p:cNvPr>
          <p:cNvSpPr txBox="1"/>
          <p:nvPr/>
        </p:nvSpPr>
        <p:spPr>
          <a:xfrm>
            <a:off x="457200" y="91440"/>
            <a:ext cx="4270208" cy="523220"/>
          </a:xfrm>
          <a:prstGeom prst="rect">
            <a:avLst/>
          </a:prstGeom>
          <a:noFill/>
        </p:spPr>
        <p:txBody>
          <a:bodyPr wrap="none">
            <a:spAutoFit/>
          </a:bodyPr>
          <a:lstStyle/>
          <a:p>
            <a:pPr>
              <a:defRPr sz="2800" b="1">
                <a:solidFill>
                  <a:srgbClr val="FFFFFF"/>
                </a:solidFill>
              </a:defRPr>
            </a:pPr>
            <a:r>
              <a:rPr lang="en-IN" sz="2800" b="1" dirty="0"/>
              <a:t>Excel Analysis &amp; Dashboard</a:t>
            </a:r>
            <a:endParaRPr dirty="0"/>
          </a:p>
        </p:txBody>
      </p:sp>
      <p:sp>
        <p:nvSpPr>
          <p:cNvPr id="5" name="TextBox 4">
            <a:extLst>
              <a:ext uri="{FF2B5EF4-FFF2-40B4-BE49-F238E27FC236}">
                <a16:creationId xmlns:a16="http://schemas.microsoft.com/office/drawing/2014/main" id="{102DB5D8-319B-541C-2193-F96A432B650B}"/>
              </a:ext>
            </a:extLst>
          </p:cNvPr>
          <p:cNvSpPr txBox="1"/>
          <p:nvPr/>
        </p:nvSpPr>
        <p:spPr>
          <a:xfrm>
            <a:off x="457200" y="1028343"/>
            <a:ext cx="10782299" cy="5355312"/>
          </a:xfrm>
          <a:prstGeom prst="rect">
            <a:avLst/>
          </a:prstGeom>
          <a:noFill/>
        </p:spPr>
        <p:txBody>
          <a:bodyPr wrap="square">
            <a:spAutoFit/>
          </a:bodyPr>
          <a:lstStyle/>
          <a:p>
            <a:pPr algn="just">
              <a:buNone/>
            </a:pPr>
            <a:r>
              <a:rPr lang="en-IN" b="1" dirty="0"/>
              <a:t>Purpose</a:t>
            </a:r>
            <a:endParaRPr lang="en-IN" dirty="0"/>
          </a:p>
          <a:p>
            <a:pPr algn="just">
              <a:buNone/>
            </a:pPr>
            <a:r>
              <a:rPr lang="en-IN" dirty="0"/>
              <a:t>The Excel dashboard was created to perform exploratory data analysis using Pivot Tables, Pivot Charts, KPIs, and Slicers. It provided an initial understanding of customer behaviour, subscription trends, revenue distribution, and churn patterns before building the SQL analysis and Power BI dashboard.</a:t>
            </a:r>
          </a:p>
          <a:p>
            <a:pPr algn="just">
              <a:buNone/>
            </a:pPr>
            <a:endParaRPr lang="en-IN" dirty="0"/>
          </a:p>
          <a:p>
            <a:pPr algn="just">
              <a:buNone/>
            </a:pPr>
            <a:r>
              <a:rPr lang="en-IN" b="1" dirty="0"/>
              <a:t>Key Observations</a:t>
            </a:r>
          </a:p>
          <a:p>
            <a:pPr marL="285750" indent="-285750" algn="just">
              <a:buFont typeface="Arial" panose="020B0604020202020204" pitchFamily="34" charset="0"/>
              <a:buChar char="•"/>
            </a:pPr>
            <a:r>
              <a:rPr lang="en-IN" dirty="0"/>
              <a:t>Customer churn patterns were identified across different subscription plans. </a:t>
            </a:r>
          </a:p>
          <a:p>
            <a:pPr marL="285750" indent="-285750" algn="just">
              <a:buFont typeface="Arial" panose="020B0604020202020204" pitchFamily="34" charset="0"/>
              <a:buChar char="•"/>
            </a:pPr>
            <a:r>
              <a:rPr lang="en-IN" dirty="0"/>
              <a:t>Revenue distribution varied by subscription type and customer location. </a:t>
            </a:r>
          </a:p>
          <a:p>
            <a:pPr marL="285750" indent="-285750" algn="just">
              <a:buFont typeface="Arial" panose="020B0604020202020204" pitchFamily="34" charset="0"/>
              <a:buChar char="•"/>
            </a:pPr>
            <a:r>
              <a:rPr lang="en-IN" dirty="0"/>
              <a:t>Customer engagement and support metrics highlighted potential churn risks. </a:t>
            </a:r>
          </a:p>
          <a:p>
            <a:pPr marL="285750" indent="-285750" algn="just">
              <a:buFont typeface="Arial" panose="020B0604020202020204" pitchFamily="34" charset="0"/>
              <a:buChar char="•"/>
            </a:pPr>
            <a:r>
              <a:rPr lang="en-IN" dirty="0"/>
              <a:t>The dashboard validated business metrics used in the Power BI solution.</a:t>
            </a:r>
          </a:p>
          <a:p>
            <a:pPr algn="just">
              <a:buFont typeface="Arial" panose="020B0604020202020204" pitchFamily="34" charset="0"/>
              <a:buChar char="•"/>
            </a:pPr>
            <a:endParaRPr lang="en-IN" dirty="0"/>
          </a:p>
          <a:p>
            <a:pPr algn="just"/>
            <a:r>
              <a:rPr lang="en-IN" b="1" dirty="0"/>
              <a:t>Short Insight: </a:t>
            </a:r>
          </a:p>
          <a:p>
            <a:pPr marL="285750" indent="-285750" algn="just">
              <a:buFont typeface="Arial" panose="020B0604020202020204" pitchFamily="34" charset="0"/>
              <a:buChar char="•"/>
            </a:pPr>
            <a:r>
              <a:rPr lang="en-IN" dirty="0"/>
              <a:t>Churn Rate is </a:t>
            </a:r>
            <a:r>
              <a:rPr lang="en-IN" b="1" dirty="0"/>
              <a:t>49 %</a:t>
            </a:r>
            <a:r>
              <a:rPr lang="en-IN" dirty="0"/>
              <a:t>.</a:t>
            </a:r>
          </a:p>
          <a:p>
            <a:pPr marL="285750" indent="-285750" algn="just">
              <a:buFont typeface="Arial" panose="020B0604020202020204" pitchFamily="34" charset="0"/>
              <a:buChar char="•"/>
            </a:pPr>
            <a:r>
              <a:rPr lang="en-IN" dirty="0"/>
              <a:t>Customers with </a:t>
            </a:r>
            <a:r>
              <a:rPr lang="en-IN" b="1" dirty="0"/>
              <a:t>Very High</a:t>
            </a:r>
            <a:r>
              <a:rPr lang="en-IN" dirty="0"/>
              <a:t> engagement have the </a:t>
            </a:r>
            <a:r>
              <a:rPr lang="en-IN" b="1" dirty="0"/>
              <a:t>highest churn</a:t>
            </a:r>
            <a:r>
              <a:rPr lang="en-IN" dirty="0"/>
              <a:t>.</a:t>
            </a:r>
          </a:p>
          <a:p>
            <a:pPr marL="285750" indent="-285750" algn="just">
              <a:buFont typeface="Arial" panose="020B0604020202020204" pitchFamily="34" charset="0"/>
              <a:buChar char="•"/>
            </a:pPr>
            <a:r>
              <a:rPr lang="en-US" b="1" dirty="0"/>
              <a:t>Premium</a:t>
            </a:r>
            <a:r>
              <a:rPr lang="en-IN" dirty="0"/>
              <a:t> Subscription </a:t>
            </a:r>
            <a:r>
              <a:rPr lang="en-IN" b="1" dirty="0"/>
              <a:t>contributes</a:t>
            </a:r>
            <a:r>
              <a:rPr lang="en-IN" dirty="0"/>
              <a:t> the </a:t>
            </a:r>
            <a:r>
              <a:rPr lang="en-IN" b="1" dirty="0"/>
              <a:t>highest share of total revenue</a:t>
            </a:r>
            <a:r>
              <a:rPr lang="en-IN" dirty="0"/>
              <a:t>.</a:t>
            </a:r>
          </a:p>
          <a:p>
            <a:pPr marL="285750" indent="-285750" algn="just">
              <a:buFont typeface="Arial" panose="020B0604020202020204" pitchFamily="34" charset="0"/>
              <a:buChar char="•"/>
            </a:pPr>
            <a:r>
              <a:rPr lang="en-IN" dirty="0"/>
              <a:t>Customers with </a:t>
            </a:r>
            <a:r>
              <a:rPr lang="en-IN" b="1" dirty="0"/>
              <a:t>Complaint Flag = Yes </a:t>
            </a:r>
            <a:r>
              <a:rPr lang="en-IN" dirty="0"/>
              <a:t>show </a:t>
            </a:r>
            <a:r>
              <a:rPr lang="en-IN" b="1" dirty="0"/>
              <a:t>higher churn</a:t>
            </a:r>
            <a:r>
              <a:rPr lang="en-IN" dirty="0"/>
              <a:t>.</a:t>
            </a:r>
          </a:p>
          <a:p>
            <a:pPr marL="285750" indent="-285750" algn="just">
              <a:buFont typeface="Arial" panose="020B0604020202020204" pitchFamily="34" charset="0"/>
              <a:buChar char="•"/>
            </a:pPr>
            <a:r>
              <a:rPr lang="en-US" b="1" dirty="0"/>
              <a:t>Hyderabad</a:t>
            </a:r>
            <a:r>
              <a:rPr lang="en-IN" dirty="0"/>
              <a:t> city contributes the </a:t>
            </a:r>
            <a:r>
              <a:rPr lang="en-IN" b="1" dirty="0"/>
              <a:t>largest customer base</a:t>
            </a:r>
            <a:r>
              <a:rPr lang="en-IN" dirty="0"/>
              <a:t>.</a:t>
            </a:r>
          </a:p>
          <a:p>
            <a:pPr marL="285750" indent="-285750" algn="just">
              <a:buFont typeface="Arial" panose="020B0604020202020204" pitchFamily="34" charset="0"/>
              <a:buChar char="•"/>
            </a:pPr>
            <a:r>
              <a:rPr lang="en-IN" b="1" dirty="0"/>
              <a:t>Young Adults </a:t>
            </a:r>
            <a:r>
              <a:rPr lang="en-IN" dirty="0"/>
              <a:t>age group has the </a:t>
            </a:r>
            <a:r>
              <a:rPr lang="en-IN" b="1" dirty="0"/>
              <a:t>highest churn</a:t>
            </a:r>
            <a:r>
              <a:rPr lang="en-IN" dirty="0"/>
              <a:t>.</a:t>
            </a:r>
            <a:endParaRPr lang="en-IN" b="1" dirty="0">
              <a:solidFill>
                <a:schemeClr val="tx2"/>
              </a:solidFill>
            </a:endParaRPr>
          </a:p>
          <a:p>
            <a:pPr algn="just"/>
            <a:endParaRPr lang="en-IN" dirty="0"/>
          </a:p>
        </p:txBody>
      </p:sp>
    </p:spTree>
    <p:extLst>
      <p:ext uri="{BB962C8B-B14F-4D97-AF65-F5344CB8AC3E}">
        <p14:creationId xmlns:p14="http://schemas.microsoft.com/office/powerpoint/2010/main" val="2414088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2B29FCE7-E2BD-A249-EE7C-FCFA6F7378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BE58AD-29EC-374D-F7D4-3141D3AEA689}"/>
              </a:ext>
            </a:extLst>
          </p:cNvPr>
          <p:cNvSpPr/>
          <p:nvPr/>
        </p:nvSpPr>
        <p:spPr>
          <a:xfrm>
            <a:off x="0" y="-1"/>
            <a:ext cx="12188952" cy="589935"/>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5B8AB16-72D8-03C4-2A75-A131D9F32FDA}"/>
              </a:ext>
            </a:extLst>
          </p:cNvPr>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t>Executive Overview Dashboard</a:t>
            </a:r>
          </a:p>
        </p:txBody>
      </p:sp>
      <p:pic>
        <p:nvPicPr>
          <p:cNvPr id="7" name="Picture 6">
            <a:extLst>
              <a:ext uri="{FF2B5EF4-FFF2-40B4-BE49-F238E27FC236}">
                <a16:creationId xmlns:a16="http://schemas.microsoft.com/office/drawing/2014/main" id="{0A496351-8F6B-4221-7879-57D6F76B8E3D}"/>
              </a:ext>
            </a:extLst>
          </p:cNvPr>
          <p:cNvPicPr>
            <a:picLocks noChangeAspect="1"/>
          </p:cNvPicPr>
          <p:nvPr/>
        </p:nvPicPr>
        <p:blipFill>
          <a:blip r:embed="rId2"/>
          <a:stretch>
            <a:fillRect/>
          </a:stretch>
        </p:blipFill>
        <p:spPr>
          <a:xfrm>
            <a:off x="457200" y="681376"/>
            <a:ext cx="7733362" cy="4382238"/>
          </a:xfrm>
          <a:prstGeom prst="rect">
            <a:avLst/>
          </a:prstGeom>
        </p:spPr>
      </p:pic>
      <p:sp>
        <p:nvSpPr>
          <p:cNvPr id="9" name="TextBox 8">
            <a:extLst>
              <a:ext uri="{FF2B5EF4-FFF2-40B4-BE49-F238E27FC236}">
                <a16:creationId xmlns:a16="http://schemas.microsoft.com/office/drawing/2014/main" id="{3325AB7B-C79B-4894-2622-D2600BD55B87}"/>
              </a:ext>
            </a:extLst>
          </p:cNvPr>
          <p:cNvSpPr txBox="1"/>
          <p:nvPr/>
        </p:nvSpPr>
        <p:spPr>
          <a:xfrm>
            <a:off x="457201" y="5228669"/>
            <a:ext cx="7733361" cy="1200329"/>
          </a:xfrm>
          <a:prstGeom prst="rect">
            <a:avLst/>
          </a:prstGeom>
          <a:noFill/>
        </p:spPr>
        <p:txBody>
          <a:bodyPr wrap="square">
            <a:spAutoFit/>
          </a:bodyPr>
          <a:lstStyle/>
          <a:p>
            <a:pPr algn="just"/>
            <a:r>
              <a:rPr lang="en-IN" b="1" dirty="0"/>
              <a:t>Short Insight: </a:t>
            </a:r>
          </a:p>
          <a:p>
            <a:pPr marL="285750" indent="-285750" algn="just">
              <a:buFont typeface="Arial" panose="020B0604020202020204" pitchFamily="34" charset="0"/>
              <a:buChar char="•"/>
            </a:pPr>
            <a:r>
              <a:rPr lang="en-IN" dirty="0"/>
              <a:t>The platform generated </a:t>
            </a:r>
            <a:r>
              <a:rPr lang="en-IN" b="1" dirty="0"/>
              <a:t>101M</a:t>
            </a:r>
            <a:r>
              <a:rPr lang="en-IN" dirty="0"/>
              <a:t> in total revenue. </a:t>
            </a:r>
          </a:p>
          <a:p>
            <a:pPr marL="285750" indent="-285750" algn="just">
              <a:buFont typeface="Arial" panose="020B0604020202020204" pitchFamily="34" charset="0"/>
              <a:buChar char="•"/>
            </a:pPr>
            <a:r>
              <a:rPr lang="en-IN" dirty="0"/>
              <a:t>The </a:t>
            </a:r>
            <a:r>
              <a:rPr lang="en-IN" b="1" dirty="0"/>
              <a:t>49.03%</a:t>
            </a:r>
            <a:r>
              <a:rPr lang="en-IN" dirty="0"/>
              <a:t> churn rate indicates a significant retention challenge. </a:t>
            </a:r>
          </a:p>
          <a:p>
            <a:pPr marL="285750" indent="-285750" algn="just">
              <a:buFont typeface="Arial" panose="020B0604020202020204" pitchFamily="34" charset="0"/>
              <a:buChar char="•"/>
            </a:pPr>
            <a:r>
              <a:rPr lang="en-IN" dirty="0"/>
              <a:t>More than half of the customers offered an upgrade accepted it </a:t>
            </a:r>
            <a:r>
              <a:rPr lang="en-IN" b="1" dirty="0"/>
              <a:t>(51.93%</a:t>
            </a:r>
            <a:r>
              <a:rPr lang="en-IN" dirty="0"/>
              <a:t>). </a:t>
            </a:r>
          </a:p>
        </p:txBody>
      </p:sp>
    </p:spTree>
    <p:extLst>
      <p:ext uri="{BB962C8B-B14F-4D97-AF65-F5344CB8AC3E}">
        <p14:creationId xmlns:p14="http://schemas.microsoft.com/office/powerpoint/2010/main" val="2375565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096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t>Churn Investigation Dashboard</a:t>
            </a:r>
          </a:p>
        </p:txBody>
      </p:sp>
      <p:pic>
        <p:nvPicPr>
          <p:cNvPr id="7" name="Picture 6">
            <a:extLst>
              <a:ext uri="{FF2B5EF4-FFF2-40B4-BE49-F238E27FC236}">
                <a16:creationId xmlns:a16="http://schemas.microsoft.com/office/drawing/2014/main" id="{30D79FC7-993C-34EA-3DBC-0B0B6B04FDD2}"/>
              </a:ext>
            </a:extLst>
          </p:cNvPr>
          <p:cNvPicPr>
            <a:picLocks noChangeAspect="1"/>
          </p:cNvPicPr>
          <p:nvPr/>
        </p:nvPicPr>
        <p:blipFill>
          <a:blip r:embed="rId2"/>
          <a:stretch>
            <a:fillRect/>
          </a:stretch>
        </p:blipFill>
        <p:spPr>
          <a:xfrm>
            <a:off x="457201" y="701041"/>
            <a:ext cx="7860890" cy="4461736"/>
          </a:xfrm>
          <a:prstGeom prst="rect">
            <a:avLst/>
          </a:prstGeom>
        </p:spPr>
      </p:pic>
      <p:sp>
        <p:nvSpPr>
          <p:cNvPr id="9" name="TextBox 8">
            <a:extLst>
              <a:ext uri="{FF2B5EF4-FFF2-40B4-BE49-F238E27FC236}">
                <a16:creationId xmlns:a16="http://schemas.microsoft.com/office/drawing/2014/main" id="{525F94EC-13E9-027C-7687-189F32321BB8}"/>
              </a:ext>
            </a:extLst>
          </p:cNvPr>
          <p:cNvSpPr txBox="1"/>
          <p:nvPr/>
        </p:nvSpPr>
        <p:spPr>
          <a:xfrm>
            <a:off x="457199" y="5243989"/>
            <a:ext cx="6818671" cy="1200329"/>
          </a:xfrm>
          <a:prstGeom prst="rect">
            <a:avLst/>
          </a:prstGeom>
          <a:noFill/>
        </p:spPr>
        <p:txBody>
          <a:bodyPr wrap="square">
            <a:spAutoFit/>
          </a:bodyPr>
          <a:lstStyle/>
          <a:p>
            <a:pPr algn="just"/>
            <a:r>
              <a:rPr lang="en-IN" b="1" dirty="0"/>
              <a:t>Short Insight: </a:t>
            </a:r>
          </a:p>
          <a:p>
            <a:pPr marL="285750" indent="-285750" algn="just">
              <a:buFont typeface="Arial" panose="020B0604020202020204" pitchFamily="34" charset="0"/>
              <a:buChar char="•"/>
            </a:pPr>
            <a:r>
              <a:rPr lang="en-IN" dirty="0"/>
              <a:t>Customers with </a:t>
            </a:r>
            <a:r>
              <a:rPr lang="en-IN" b="1" dirty="0"/>
              <a:t>lower engagement </a:t>
            </a:r>
            <a:r>
              <a:rPr lang="en-IN" dirty="0"/>
              <a:t>are more likely to </a:t>
            </a:r>
            <a:r>
              <a:rPr lang="en-IN" b="1" dirty="0"/>
              <a:t>churn</a:t>
            </a:r>
            <a:r>
              <a:rPr lang="en-IN" dirty="0"/>
              <a:t>. </a:t>
            </a:r>
          </a:p>
          <a:p>
            <a:pPr marL="285750" indent="-285750" algn="just">
              <a:buFont typeface="Arial" panose="020B0604020202020204" pitchFamily="34" charset="0"/>
              <a:buChar char="•"/>
            </a:pPr>
            <a:r>
              <a:rPr lang="en-IN" b="1" dirty="0"/>
              <a:t>Support interactions </a:t>
            </a:r>
            <a:r>
              <a:rPr lang="en-IN" dirty="0"/>
              <a:t>are </a:t>
            </a:r>
            <a:r>
              <a:rPr lang="en-IN" b="1" dirty="0"/>
              <a:t>higher</a:t>
            </a:r>
            <a:r>
              <a:rPr lang="en-IN" dirty="0"/>
              <a:t> among </a:t>
            </a:r>
            <a:r>
              <a:rPr lang="en-IN" b="1" dirty="0"/>
              <a:t>churned customers</a:t>
            </a:r>
            <a:r>
              <a:rPr lang="en-IN" dirty="0"/>
              <a:t>. </a:t>
            </a:r>
          </a:p>
          <a:p>
            <a:pPr marL="285750" indent="-285750" algn="just">
              <a:buFont typeface="Arial" panose="020B0604020202020204" pitchFamily="34" charset="0"/>
              <a:buChar char="•"/>
            </a:pPr>
            <a:r>
              <a:rPr lang="en-IN" dirty="0"/>
              <a:t>Customer-level </a:t>
            </a:r>
            <a:r>
              <a:rPr lang="en-IN" b="1" dirty="0"/>
              <a:t>drill-through</a:t>
            </a:r>
            <a:r>
              <a:rPr lang="en-IN" dirty="0"/>
              <a:t> helps identify specific churn patterns.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1"/>
            <a:ext cx="12188952" cy="570271"/>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t>Upgrade Behavior Dashboard</a:t>
            </a:r>
          </a:p>
        </p:txBody>
      </p:sp>
      <p:pic>
        <p:nvPicPr>
          <p:cNvPr id="7" name="Picture 6">
            <a:extLst>
              <a:ext uri="{FF2B5EF4-FFF2-40B4-BE49-F238E27FC236}">
                <a16:creationId xmlns:a16="http://schemas.microsoft.com/office/drawing/2014/main" id="{4CF2348F-DA9D-DB41-3BD7-AD459C8BFC30}"/>
              </a:ext>
            </a:extLst>
          </p:cNvPr>
          <p:cNvPicPr>
            <a:picLocks noChangeAspect="1"/>
          </p:cNvPicPr>
          <p:nvPr/>
        </p:nvPicPr>
        <p:blipFill>
          <a:blip r:embed="rId2"/>
          <a:stretch>
            <a:fillRect/>
          </a:stretch>
        </p:blipFill>
        <p:spPr>
          <a:xfrm>
            <a:off x="457201" y="749710"/>
            <a:ext cx="7860889" cy="4460079"/>
          </a:xfrm>
          <a:prstGeom prst="rect">
            <a:avLst/>
          </a:prstGeom>
        </p:spPr>
      </p:pic>
      <p:sp>
        <p:nvSpPr>
          <p:cNvPr id="9" name="TextBox 8">
            <a:extLst>
              <a:ext uri="{FF2B5EF4-FFF2-40B4-BE49-F238E27FC236}">
                <a16:creationId xmlns:a16="http://schemas.microsoft.com/office/drawing/2014/main" id="{9848A17D-8313-B8B5-1EAA-61DC4CE1DE25}"/>
              </a:ext>
            </a:extLst>
          </p:cNvPr>
          <p:cNvSpPr txBox="1"/>
          <p:nvPr/>
        </p:nvSpPr>
        <p:spPr>
          <a:xfrm>
            <a:off x="457199" y="5359335"/>
            <a:ext cx="7575755" cy="1200329"/>
          </a:xfrm>
          <a:prstGeom prst="rect">
            <a:avLst/>
          </a:prstGeom>
          <a:noFill/>
        </p:spPr>
        <p:txBody>
          <a:bodyPr wrap="square">
            <a:spAutoFit/>
          </a:bodyPr>
          <a:lstStyle/>
          <a:p>
            <a:r>
              <a:rPr lang="en-IN" b="1" dirty="0"/>
              <a:t>Short Insight: </a:t>
            </a:r>
          </a:p>
          <a:p>
            <a:pPr marL="285750" indent="-285750">
              <a:buFont typeface="Arial" panose="020B0604020202020204" pitchFamily="34" charset="0"/>
              <a:buChar char="•"/>
            </a:pPr>
            <a:r>
              <a:rPr lang="en-IN" b="1" dirty="0"/>
              <a:t>Highly engaged customers </a:t>
            </a:r>
            <a:r>
              <a:rPr lang="en-IN" dirty="0"/>
              <a:t>show the </a:t>
            </a:r>
            <a:r>
              <a:rPr lang="en-IN" b="1" dirty="0"/>
              <a:t>highest upgrade acceptance</a:t>
            </a:r>
            <a:r>
              <a:rPr lang="en-IN" dirty="0"/>
              <a:t>. </a:t>
            </a:r>
          </a:p>
          <a:p>
            <a:pPr marL="285750" indent="-285750">
              <a:buFont typeface="Arial" panose="020B0604020202020204" pitchFamily="34" charset="0"/>
              <a:buChar char="•"/>
            </a:pPr>
            <a:r>
              <a:rPr lang="en-IN" b="1" dirty="0"/>
              <a:t>Upgrade campaigns </a:t>
            </a:r>
            <a:r>
              <a:rPr lang="en-IN" dirty="0"/>
              <a:t>are performing well with a </a:t>
            </a:r>
            <a:r>
              <a:rPr lang="en-IN" b="1" dirty="0"/>
              <a:t>51.93%</a:t>
            </a:r>
            <a:r>
              <a:rPr lang="en-IN" dirty="0"/>
              <a:t> acceptance rate. </a:t>
            </a:r>
          </a:p>
          <a:p>
            <a:pPr marL="285750" indent="-285750">
              <a:buFont typeface="Arial" panose="020B0604020202020204" pitchFamily="34" charset="0"/>
              <a:buChar char="•"/>
            </a:pPr>
            <a:r>
              <a:rPr lang="en-IN" b="1" dirty="0"/>
              <a:t>Basic</a:t>
            </a:r>
            <a:r>
              <a:rPr lang="en-IN" dirty="0"/>
              <a:t> and </a:t>
            </a:r>
            <a:r>
              <a:rPr lang="en-IN" b="1" dirty="0"/>
              <a:t>Standard</a:t>
            </a:r>
            <a:r>
              <a:rPr lang="en-IN" dirty="0"/>
              <a:t> users represent </a:t>
            </a:r>
            <a:r>
              <a:rPr lang="en-IN" b="1" dirty="0"/>
              <a:t>strong upgrade opportunities</a:t>
            </a:r>
            <a:r>
              <a:rPr lang="en-IN"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1"/>
            <a:ext cx="12188952" cy="580103"/>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9144000" cy="365760"/>
          </a:xfrm>
          <a:prstGeom prst="rect">
            <a:avLst/>
          </a:prstGeom>
          <a:noFill/>
        </p:spPr>
        <p:txBody>
          <a:bodyPr wrap="none">
            <a:spAutoFit/>
          </a:bodyPr>
          <a:lstStyle/>
          <a:p>
            <a:pPr>
              <a:defRPr sz="2800" b="1">
                <a:solidFill>
                  <a:srgbClr val="FFFFFF"/>
                </a:solidFill>
              </a:defRPr>
            </a:pPr>
            <a:r>
              <a:t>Revenue &amp; Value Dashboard</a:t>
            </a:r>
          </a:p>
        </p:txBody>
      </p:sp>
      <p:pic>
        <p:nvPicPr>
          <p:cNvPr id="7" name="Picture 6">
            <a:extLst>
              <a:ext uri="{FF2B5EF4-FFF2-40B4-BE49-F238E27FC236}">
                <a16:creationId xmlns:a16="http://schemas.microsoft.com/office/drawing/2014/main" id="{606723AC-99A3-F149-3FE8-7CE7A2B4975D}"/>
              </a:ext>
            </a:extLst>
          </p:cNvPr>
          <p:cNvPicPr>
            <a:picLocks noChangeAspect="1"/>
          </p:cNvPicPr>
          <p:nvPr/>
        </p:nvPicPr>
        <p:blipFill>
          <a:blip r:embed="rId2"/>
          <a:stretch>
            <a:fillRect/>
          </a:stretch>
        </p:blipFill>
        <p:spPr>
          <a:xfrm>
            <a:off x="457200" y="671542"/>
            <a:ext cx="7949381" cy="4507847"/>
          </a:xfrm>
          <a:prstGeom prst="rect">
            <a:avLst/>
          </a:prstGeom>
        </p:spPr>
      </p:pic>
      <p:sp>
        <p:nvSpPr>
          <p:cNvPr id="9" name="TextBox 8">
            <a:extLst>
              <a:ext uri="{FF2B5EF4-FFF2-40B4-BE49-F238E27FC236}">
                <a16:creationId xmlns:a16="http://schemas.microsoft.com/office/drawing/2014/main" id="{ACEE274C-4C5F-0553-674D-D2436F1E5C03}"/>
              </a:ext>
            </a:extLst>
          </p:cNvPr>
          <p:cNvSpPr txBox="1"/>
          <p:nvPr/>
        </p:nvSpPr>
        <p:spPr>
          <a:xfrm>
            <a:off x="457199" y="5270829"/>
            <a:ext cx="7742903" cy="1200329"/>
          </a:xfrm>
          <a:prstGeom prst="rect">
            <a:avLst/>
          </a:prstGeom>
          <a:noFill/>
        </p:spPr>
        <p:txBody>
          <a:bodyPr wrap="square">
            <a:spAutoFit/>
          </a:bodyPr>
          <a:lstStyle/>
          <a:p>
            <a:pPr algn="just"/>
            <a:r>
              <a:rPr lang="en-IN" b="1" dirty="0"/>
              <a:t>Short Insight: </a:t>
            </a:r>
          </a:p>
          <a:p>
            <a:pPr marL="285750" indent="-285750" algn="just">
              <a:buFont typeface="Arial" panose="020B0604020202020204" pitchFamily="34" charset="0"/>
              <a:buChar char="•"/>
            </a:pPr>
            <a:r>
              <a:rPr lang="en-IN" b="1" dirty="0"/>
              <a:t>Premium Subscription </a:t>
            </a:r>
            <a:r>
              <a:rPr lang="en-IN" dirty="0"/>
              <a:t>generated the </a:t>
            </a:r>
            <a:r>
              <a:rPr lang="en-IN" b="1" dirty="0"/>
              <a:t>highest revenue </a:t>
            </a:r>
            <a:r>
              <a:rPr lang="en-IN" dirty="0"/>
              <a:t>(</a:t>
            </a:r>
            <a:r>
              <a:rPr lang="en-IN" b="1" dirty="0"/>
              <a:t>35M</a:t>
            </a:r>
            <a:r>
              <a:rPr lang="en-IN" dirty="0"/>
              <a:t>). </a:t>
            </a:r>
          </a:p>
          <a:p>
            <a:pPr marL="285750" indent="-285750" algn="just">
              <a:buFont typeface="Arial" panose="020B0604020202020204" pitchFamily="34" charset="0"/>
              <a:buChar char="•"/>
            </a:pPr>
            <a:r>
              <a:rPr lang="en-IN" b="1" dirty="0"/>
              <a:t>Hyderabad</a:t>
            </a:r>
            <a:r>
              <a:rPr lang="en-IN" dirty="0"/>
              <a:t> is the </a:t>
            </a:r>
            <a:r>
              <a:rPr lang="en-IN" b="1" dirty="0"/>
              <a:t>highest revenue-generating city</a:t>
            </a:r>
            <a:r>
              <a:rPr lang="en-IN" dirty="0"/>
              <a:t>. </a:t>
            </a:r>
          </a:p>
          <a:p>
            <a:pPr marL="285750" indent="-285750" algn="just">
              <a:buFont typeface="Arial" panose="020B0604020202020204" pitchFamily="34" charset="0"/>
              <a:buChar char="•"/>
            </a:pPr>
            <a:r>
              <a:rPr lang="en-IN" b="1" dirty="0"/>
              <a:t>Top customers </a:t>
            </a:r>
            <a:r>
              <a:rPr lang="en-IN" dirty="0"/>
              <a:t>contribute a </a:t>
            </a:r>
            <a:r>
              <a:rPr lang="en-IN" b="1" dirty="0"/>
              <a:t>significant share </a:t>
            </a:r>
            <a:r>
              <a:rPr lang="en-IN" dirty="0"/>
              <a:t>of total revenue.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1466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5255342" cy="523220"/>
          </a:xfrm>
          <a:prstGeom prst="rect">
            <a:avLst/>
          </a:prstGeom>
          <a:noFill/>
        </p:spPr>
        <p:txBody>
          <a:bodyPr wrap="square">
            <a:spAutoFit/>
          </a:bodyPr>
          <a:lstStyle/>
          <a:p>
            <a:pPr>
              <a:defRPr sz="2800" b="1">
                <a:solidFill>
                  <a:srgbClr val="FFFFFF"/>
                </a:solidFill>
              </a:defRPr>
            </a:pPr>
            <a:r>
              <a:rPr dirty="0"/>
              <a:t>Support &amp; Experience Dashboard</a:t>
            </a:r>
          </a:p>
        </p:txBody>
      </p:sp>
      <p:pic>
        <p:nvPicPr>
          <p:cNvPr id="7" name="Picture 6">
            <a:extLst>
              <a:ext uri="{FF2B5EF4-FFF2-40B4-BE49-F238E27FC236}">
                <a16:creationId xmlns:a16="http://schemas.microsoft.com/office/drawing/2014/main" id="{098D9113-F6C6-30F8-9520-B0F6397ACF96}"/>
              </a:ext>
            </a:extLst>
          </p:cNvPr>
          <p:cNvPicPr>
            <a:picLocks noChangeAspect="1"/>
          </p:cNvPicPr>
          <p:nvPr/>
        </p:nvPicPr>
        <p:blipFill>
          <a:blip r:embed="rId2"/>
          <a:stretch>
            <a:fillRect/>
          </a:stretch>
        </p:blipFill>
        <p:spPr>
          <a:xfrm>
            <a:off x="457200" y="706101"/>
            <a:ext cx="7939488" cy="4485332"/>
          </a:xfrm>
          <a:prstGeom prst="rect">
            <a:avLst/>
          </a:prstGeom>
        </p:spPr>
      </p:pic>
      <p:sp>
        <p:nvSpPr>
          <p:cNvPr id="11" name="TextBox 10">
            <a:extLst>
              <a:ext uri="{FF2B5EF4-FFF2-40B4-BE49-F238E27FC236}">
                <a16:creationId xmlns:a16="http://schemas.microsoft.com/office/drawing/2014/main" id="{83BCFAC0-4F92-C2CE-8AC0-044B80495D50}"/>
              </a:ext>
            </a:extLst>
          </p:cNvPr>
          <p:cNvSpPr txBox="1"/>
          <p:nvPr/>
        </p:nvSpPr>
        <p:spPr>
          <a:xfrm>
            <a:off x="457200" y="5279934"/>
            <a:ext cx="11262852" cy="1477328"/>
          </a:xfrm>
          <a:prstGeom prst="rect">
            <a:avLst/>
          </a:prstGeom>
          <a:noFill/>
        </p:spPr>
        <p:txBody>
          <a:bodyPr wrap="square">
            <a:spAutoFit/>
          </a:bodyPr>
          <a:lstStyle/>
          <a:p>
            <a:r>
              <a:rPr lang="en-IN" b="1" dirty="0"/>
              <a:t>Short Insight: </a:t>
            </a:r>
          </a:p>
          <a:p>
            <a:pPr marL="285750" indent="-285750">
              <a:buFont typeface="Arial" panose="020B0604020202020204" pitchFamily="34" charset="0"/>
              <a:buChar char="•"/>
            </a:pPr>
            <a:r>
              <a:rPr lang="en-IN" b="1" dirty="0"/>
              <a:t>163</a:t>
            </a:r>
            <a:r>
              <a:rPr lang="en-IN" dirty="0"/>
              <a:t> churned customers had support interactions before leaving.</a:t>
            </a:r>
          </a:p>
          <a:p>
            <a:pPr marL="285750" indent="-285750">
              <a:buFont typeface="Arial" panose="020B0604020202020204" pitchFamily="34" charset="0"/>
              <a:buChar char="•"/>
            </a:pPr>
            <a:r>
              <a:rPr lang="en-IN" dirty="0"/>
              <a:t> Customers have a moderate level of satisfaction (</a:t>
            </a:r>
            <a:r>
              <a:rPr lang="en-IN" b="1" dirty="0"/>
              <a:t>3.77/5</a:t>
            </a:r>
            <a:r>
              <a:rPr lang="en-IN" dirty="0"/>
              <a:t>), indicating opportunities to improve the overall user experience and customer support to increase retention.(</a:t>
            </a:r>
            <a:r>
              <a:rPr lang="en-IN" b="1" dirty="0"/>
              <a:t>Average Rating = Sum of all ratings/ Number of Rating</a:t>
            </a:r>
            <a:r>
              <a:rPr lang="en-IN" dirty="0"/>
              <a:t>).</a:t>
            </a:r>
          </a:p>
          <a:p>
            <a:pPr marL="285750" indent="-285750">
              <a:buFont typeface="Arial" panose="020B0604020202020204" pitchFamily="34" charset="0"/>
              <a:buChar char="•"/>
            </a:pPr>
            <a:r>
              <a:rPr lang="en-IN" b="1" dirty="0"/>
              <a:t>Risk analysis </a:t>
            </a:r>
            <a:r>
              <a:rPr lang="en-IN" dirty="0"/>
              <a:t>helps identify customers needing proactive retention efforts.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1466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3406877" cy="523220"/>
          </a:xfrm>
          <a:prstGeom prst="rect">
            <a:avLst/>
          </a:prstGeom>
          <a:noFill/>
        </p:spPr>
        <p:txBody>
          <a:bodyPr wrap="square">
            <a:spAutoFit/>
          </a:bodyPr>
          <a:lstStyle/>
          <a:p>
            <a:pPr>
              <a:defRPr sz="2800" b="1">
                <a:solidFill>
                  <a:srgbClr val="FFFFFF"/>
                </a:solidFill>
              </a:defRPr>
            </a:pPr>
            <a:r>
              <a:t>Key Business Insights</a:t>
            </a:r>
          </a:p>
        </p:txBody>
      </p:sp>
      <p:sp>
        <p:nvSpPr>
          <p:cNvPr id="4" name="TextBox 3"/>
          <p:cNvSpPr txBox="1"/>
          <p:nvPr/>
        </p:nvSpPr>
        <p:spPr>
          <a:xfrm>
            <a:off x="457200" y="849507"/>
            <a:ext cx="7511352" cy="1631216"/>
          </a:xfrm>
          <a:prstGeom prst="rect">
            <a:avLst/>
          </a:prstGeom>
          <a:noFill/>
        </p:spPr>
        <p:txBody>
          <a:bodyPr wrap="none">
            <a:spAutoFit/>
          </a:bodyPr>
          <a:lstStyle/>
          <a:p>
            <a:pPr marL="342900" indent="-342900" algn="just">
              <a:buFont typeface="Arial" panose="020B0604020202020204" pitchFamily="34" charset="0"/>
              <a:buChar char="•"/>
              <a:defRPr sz="2000"/>
            </a:pPr>
            <a:r>
              <a:rPr dirty="0"/>
              <a:t>High engagement alone did not guarantee retention.</a:t>
            </a:r>
          </a:p>
          <a:p>
            <a:pPr marL="342900" indent="-342900" algn="just">
              <a:buFont typeface="Arial" panose="020B0604020202020204" pitchFamily="34" charset="0"/>
              <a:buChar char="•"/>
              <a:defRPr sz="2000"/>
            </a:pPr>
            <a:r>
              <a:rPr dirty="0"/>
              <a:t>Premium subscription generated the highest revenue.</a:t>
            </a:r>
          </a:p>
          <a:p>
            <a:pPr marL="342900" indent="-342900" algn="just">
              <a:buFont typeface="Arial" panose="020B0604020202020204" pitchFamily="34" charset="0"/>
              <a:buChar char="•"/>
              <a:defRPr sz="2000"/>
            </a:pPr>
            <a:r>
              <a:rPr dirty="0"/>
              <a:t>Hyderabad contributed the highest revenue.</a:t>
            </a:r>
          </a:p>
          <a:p>
            <a:pPr marL="342900" indent="-342900" algn="just">
              <a:buFont typeface="Arial" panose="020B0604020202020204" pitchFamily="34" charset="0"/>
              <a:buChar char="•"/>
              <a:defRPr sz="2000"/>
            </a:pPr>
            <a:r>
              <a:rPr dirty="0"/>
              <a:t>163 churned customers interacted with support before leaving.</a:t>
            </a:r>
          </a:p>
          <a:p>
            <a:pPr marL="342900" indent="-342900" algn="just">
              <a:buFont typeface="Arial" panose="020B0604020202020204" pitchFamily="34" charset="0"/>
              <a:buChar char="•"/>
              <a:defRPr sz="2000"/>
            </a:pPr>
            <a:r>
              <a:rPr dirty="0"/>
              <a:t>Average customer rating was 3.77 indicating moderate satisfaction.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1466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380271" cy="523220"/>
          </a:xfrm>
          <a:prstGeom prst="rect">
            <a:avLst/>
          </a:prstGeom>
          <a:noFill/>
        </p:spPr>
        <p:txBody>
          <a:bodyPr wrap="square">
            <a:spAutoFit/>
          </a:bodyPr>
          <a:lstStyle/>
          <a:p>
            <a:pPr>
              <a:defRPr sz="2800" b="1">
                <a:solidFill>
                  <a:srgbClr val="FFFFFF"/>
                </a:solidFill>
              </a:defRPr>
            </a:pPr>
            <a:r>
              <a:t>Business Recommendations</a:t>
            </a:r>
          </a:p>
        </p:txBody>
      </p:sp>
      <p:sp>
        <p:nvSpPr>
          <p:cNvPr id="4" name="TextBox 3"/>
          <p:cNvSpPr txBox="1"/>
          <p:nvPr/>
        </p:nvSpPr>
        <p:spPr>
          <a:xfrm>
            <a:off x="457200" y="778579"/>
            <a:ext cx="6049348" cy="1323439"/>
          </a:xfrm>
          <a:prstGeom prst="rect">
            <a:avLst/>
          </a:prstGeom>
          <a:noFill/>
        </p:spPr>
        <p:txBody>
          <a:bodyPr wrap="none">
            <a:spAutoFit/>
          </a:bodyPr>
          <a:lstStyle/>
          <a:p>
            <a:pPr marL="342900" indent="-342900" algn="just">
              <a:buFont typeface="Arial" panose="020B0604020202020204" pitchFamily="34" charset="0"/>
              <a:buChar char="•"/>
              <a:defRPr sz="2000"/>
            </a:pPr>
            <a:r>
              <a:rPr dirty="0"/>
              <a:t>Target high-risk customers with retention campaigns.</a:t>
            </a:r>
          </a:p>
          <a:p>
            <a:pPr marL="342900" indent="-342900" algn="just">
              <a:buFont typeface="Arial" panose="020B0604020202020204" pitchFamily="34" charset="0"/>
              <a:buChar char="•"/>
              <a:defRPr sz="2000"/>
            </a:pPr>
            <a:r>
              <a:rPr dirty="0"/>
              <a:t>Improve onboarding and engagement.</a:t>
            </a:r>
          </a:p>
          <a:p>
            <a:pPr marL="342900" indent="-342900" algn="just">
              <a:buFont typeface="Arial" panose="020B0604020202020204" pitchFamily="34" charset="0"/>
              <a:buChar char="•"/>
              <a:defRPr sz="2000"/>
            </a:pPr>
            <a:r>
              <a:rPr dirty="0"/>
              <a:t>Run personalized upgrade offers.</a:t>
            </a:r>
          </a:p>
          <a:p>
            <a:pPr marL="342900" indent="-342900" algn="just">
              <a:buFont typeface="Arial" panose="020B0604020202020204" pitchFamily="34" charset="0"/>
              <a:buChar char="•"/>
              <a:defRPr sz="2000"/>
            </a:pPr>
            <a:r>
              <a:rPr dirty="0"/>
              <a:t>Monitor KPIs regularly through Power BI.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1466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3229897" cy="523220"/>
          </a:xfrm>
          <a:prstGeom prst="rect">
            <a:avLst/>
          </a:prstGeom>
          <a:noFill/>
        </p:spPr>
        <p:txBody>
          <a:bodyPr wrap="square">
            <a:spAutoFit/>
          </a:bodyPr>
          <a:lstStyle/>
          <a:p>
            <a:pPr>
              <a:defRPr sz="2800" b="1">
                <a:solidFill>
                  <a:srgbClr val="FFFFFF"/>
                </a:solidFill>
              </a:defRPr>
            </a:pPr>
            <a:r>
              <a:t>Project Deliverables</a:t>
            </a:r>
          </a:p>
        </p:txBody>
      </p:sp>
      <p:sp>
        <p:nvSpPr>
          <p:cNvPr id="4" name="TextBox 3"/>
          <p:cNvSpPr txBox="1"/>
          <p:nvPr/>
        </p:nvSpPr>
        <p:spPr>
          <a:xfrm>
            <a:off x="457200" y="829842"/>
            <a:ext cx="2639762" cy="3170099"/>
          </a:xfrm>
          <a:prstGeom prst="rect">
            <a:avLst/>
          </a:prstGeom>
          <a:noFill/>
        </p:spPr>
        <p:txBody>
          <a:bodyPr wrap="none">
            <a:spAutoFit/>
          </a:bodyPr>
          <a:lstStyle/>
          <a:p>
            <a:pPr marL="342900" indent="-342900" algn="just">
              <a:buFont typeface="Arial" panose="020B0604020202020204" pitchFamily="34" charset="0"/>
              <a:buChar char="•"/>
              <a:defRPr sz="2000"/>
            </a:pPr>
            <a:r>
              <a:rPr dirty="0"/>
              <a:t>BRD</a:t>
            </a:r>
          </a:p>
          <a:p>
            <a:pPr marL="342900" indent="-342900" algn="just">
              <a:buFont typeface="Arial" panose="020B0604020202020204" pitchFamily="34" charset="0"/>
              <a:buChar char="•"/>
              <a:defRPr sz="2000"/>
            </a:pPr>
            <a:r>
              <a:rPr dirty="0"/>
              <a:t>FRD</a:t>
            </a:r>
          </a:p>
          <a:p>
            <a:pPr marL="342900" indent="-342900" algn="just">
              <a:buFont typeface="Arial" panose="020B0604020202020204" pitchFamily="34" charset="0"/>
              <a:buChar char="•"/>
              <a:defRPr sz="2000"/>
            </a:pPr>
            <a:r>
              <a:rPr dirty="0"/>
              <a:t>Excel Analysis</a:t>
            </a:r>
            <a:endParaRPr lang="en-IN" dirty="0"/>
          </a:p>
          <a:p>
            <a:pPr marL="342900" indent="-342900" algn="just">
              <a:buFont typeface="Arial" panose="020B0604020202020204" pitchFamily="34" charset="0"/>
              <a:buChar char="•"/>
              <a:defRPr sz="2000"/>
            </a:pPr>
            <a:r>
              <a:rPr lang="en-IN" dirty="0"/>
              <a:t>Excel Dashboard</a:t>
            </a:r>
            <a:endParaRPr dirty="0"/>
          </a:p>
          <a:p>
            <a:pPr marL="342900" indent="-342900" algn="just">
              <a:buFont typeface="Arial" panose="020B0604020202020204" pitchFamily="34" charset="0"/>
              <a:buChar char="•"/>
              <a:defRPr sz="2000"/>
            </a:pPr>
            <a:r>
              <a:rPr dirty="0"/>
              <a:t>SQL Scripts</a:t>
            </a:r>
          </a:p>
          <a:p>
            <a:pPr marL="342900" indent="-342900" algn="just">
              <a:buFont typeface="Arial" panose="020B0604020202020204" pitchFamily="34" charset="0"/>
              <a:buChar char="•"/>
              <a:defRPr sz="2000"/>
            </a:pPr>
            <a:r>
              <a:rPr dirty="0"/>
              <a:t>Power BI Dashboard</a:t>
            </a:r>
          </a:p>
          <a:p>
            <a:pPr marL="342900" indent="-342900" algn="just">
              <a:buFont typeface="Arial" panose="020B0604020202020204" pitchFamily="34" charset="0"/>
              <a:buChar char="•"/>
              <a:defRPr sz="2000"/>
            </a:pPr>
            <a:r>
              <a:rPr dirty="0"/>
              <a:t>ER Diagram</a:t>
            </a:r>
          </a:p>
          <a:p>
            <a:pPr marL="342900" indent="-342900" algn="just">
              <a:buFont typeface="Arial" panose="020B0604020202020204" pitchFamily="34" charset="0"/>
              <a:buChar char="•"/>
              <a:defRPr sz="2000"/>
            </a:pPr>
            <a:r>
              <a:rPr dirty="0"/>
              <a:t>Data Model</a:t>
            </a:r>
          </a:p>
          <a:p>
            <a:pPr marL="342900" indent="-342900" algn="just">
              <a:buFont typeface="Arial" panose="020B0604020202020204" pitchFamily="34" charset="0"/>
              <a:buChar char="•"/>
              <a:defRPr sz="2000"/>
            </a:pPr>
            <a:r>
              <a:rPr dirty="0"/>
              <a:t>Final Report</a:t>
            </a:r>
          </a:p>
          <a:p>
            <a:pPr marL="342900" indent="-342900" algn="just">
              <a:buFont typeface="Arial" panose="020B0604020202020204" pitchFamily="34" charset="0"/>
              <a:buChar char="•"/>
              <a:defRPr sz="2000"/>
            </a:pPr>
            <a:r>
              <a:rPr dirty="0"/>
              <a:t>GitHub Repository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1466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715729" cy="523220"/>
          </a:xfrm>
          <a:prstGeom prst="rect">
            <a:avLst/>
          </a:prstGeom>
          <a:noFill/>
        </p:spPr>
        <p:txBody>
          <a:bodyPr wrap="square">
            <a:spAutoFit/>
          </a:bodyPr>
          <a:lstStyle/>
          <a:p>
            <a:pPr>
              <a:defRPr sz="2800" b="1">
                <a:solidFill>
                  <a:srgbClr val="FFFFFF"/>
                </a:solidFill>
              </a:defRPr>
            </a:pPr>
            <a:r>
              <a:t>Thank You</a:t>
            </a:r>
          </a:p>
        </p:txBody>
      </p:sp>
      <p:sp>
        <p:nvSpPr>
          <p:cNvPr id="4" name="TextBox 3"/>
          <p:cNvSpPr txBox="1"/>
          <p:nvPr/>
        </p:nvSpPr>
        <p:spPr>
          <a:xfrm>
            <a:off x="548640" y="731520"/>
            <a:ext cx="5486400" cy="5303520"/>
          </a:xfrm>
          <a:prstGeom prst="rect">
            <a:avLst/>
          </a:prstGeom>
          <a:noFill/>
        </p:spPr>
        <p:txBody>
          <a:bodyPr wrap="none">
            <a:spAutoFit/>
          </a:bodyPr>
          <a:lstStyle/>
          <a:p>
            <a:pPr>
              <a:defRPr sz="2000"/>
            </a:pPr>
            <a:r>
              <a:t>Questions &amp; Discussion</a:t>
            </a:r>
          </a:p>
          <a:p>
            <a:pPr>
              <a:defRPr sz="2000"/>
            </a:pPr>
            <a:r>
              <a:t>Abhijeet Kedar</a:t>
            </a:r>
          </a:p>
          <a:p>
            <a:pPr>
              <a:defRPr sz="2000"/>
            </a:pPr>
            <a:r>
              <a:t>Business Analyst | Data Analyst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TotalTime>
  <Words>611</Words>
  <Application>Microsoft Office PowerPoint</Application>
  <PresentationFormat>Custom</PresentationFormat>
  <Paragraphs>115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Abhijeet Kedar</dc:creator>
  <cp:keywords/>
  <dc:description>generated using python-pptx</dc:description>
  <cp:lastModifiedBy>Abhijeet Kedar</cp:lastModifiedBy>
  <cp:revision>5</cp:revision>
  <dcterms:created xsi:type="dcterms:W3CDTF">2013-01-27T09:14:16Z</dcterms:created>
  <dcterms:modified xsi:type="dcterms:W3CDTF">2026-07-10T20:28:37Z</dcterms:modified>
  <cp:category/>
</cp:coreProperties>
</file>